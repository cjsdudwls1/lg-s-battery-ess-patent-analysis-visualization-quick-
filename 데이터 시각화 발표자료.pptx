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5d2622b6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a5d2622b65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08b0a865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08b0a8654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8b0a865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08b0a8654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d2622b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5d2622b6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5d2622b6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5d2622b65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08b0a865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b08b0a8654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08b0a8654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08b0a8654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95512" y="2324100"/>
            <a:ext cx="78009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LG 배터리 및 ESS</a:t>
            </a:r>
            <a:endParaRPr b="1" sz="5400">
              <a:solidFill>
                <a:srgbClr val="F1F5F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540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특허 데이터 시각화 </a:t>
            </a:r>
            <a:r>
              <a:rPr b="1" lang="en-US" sz="54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분석석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연구 배경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71500" y="1144934"/>
            <a:ext cx="110490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1880675"/>
            <a:ext cx="11049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AI 시대, ESS 시장의 폭발적 성장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: AI 데이터센터 확산에 따른 전력 수요 급증으로</a:t>
            </a:r>
            <a:b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</a:b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에너지 저장 장치(ESS)가 차세대 게임체인저로 부상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양적 성장에서 질적 전략으로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: 출원 건수 중심의 경쟁에서 벗어나, 핵심 발명자 및 공백 기술 확보를 위한 고도화된 IP 포트폴리오 분석 전략 필요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연구 </a:t>
            </a: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목적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71500" y="1144934"/>
            <a:ext cx="110490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1555900"/>
            <a:ext cx="11049000" cy="4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데이터 기반의 기술 트렌드 시각화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: 2015~2025년 KIPRIS 데이터를 활용, 배터리 및 ESS 기술 흐름 파악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경쟁사 심층 프로파일링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: 주요 출원인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(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LG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엔솔 등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) 및 핵심 발명자(Key-man) 분석을 통한 R&amp;D 집중 분야 식별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Actionable Insight 도출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: H01M(전지) 등 주요 IPC 분류 분석을 통해 미래 유망 기술 선점 및 R&amp;D 전략 수립을 위한 인사이트 제공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KIPRIS	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71500" y="1144934"/>
            <a:ext cx="110490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571500" y="2456075"/>
            <a:ext cx="11049000" cy="4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23114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3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-</a:t>
            </a:r>
            <a:r>
              <a:rPr b="1" lang="en-US" sz="23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검색식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: 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이차전지 배터리 + 배터리 + ESS + (에너지 저장기술)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23114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 -2015년 1월부터 2025년 4월까지로 한정하여 83,967건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23114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23114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-LG데이터만 취급(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국내 주요 출원인으로 임의 선정</a:t>
            </a: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)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23114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  (['lg', 'LG', '엘지', '엘쥐']) 20,148건 </a:t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23114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5459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571500" y="5535959"/>
            <a:ext cx="110490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-US" sz="1100">
                <a:solidFill>
                  <a:schemeClr val="lt1"/>
                </a:solidFill>
              </a:rPr>
              <a:t>우상향 추세:</a:t>
            </a:r>
            <a:r>
              <a:rPr lang="en-US" sz="1100">
                <a:solidFill>
                  <a:schemeClr val="lt1"/>
                </a:solidFill>
              </a:rPr>
              <a:t> 2023년까지 특허 출원(파란 실선)이 지속적으로 증가하여 약 2,800건에 도달함. 이는 해당 기술 분야(배터리)의 R&amp;D가 매우 활발했음을 의미.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-US" sz="1100">
                <a:solidFill>
                  <a:schemeClr val="lt1"/>
                </a:solidFill>
              </a:rPr>
              <a:t>등록의 후행성:</a:t>
            </a:r>
            <a:r>
              <a:rPr lang="en-US" sz="1100">
                <a:solidFill>
                  <a:schemeClr val="lt1"/>
                </a:solidFill>
              </a:rPr>
              <a:t> 등록(주황 점선)은 출원 후 심사를 거쳐야 하므로 출원 그래프보다 수치와 시점이 뒤따라가는 경향을 보임.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-US" sz="1100">
                <a:solidFill>
                  <a:schemeClr val="lt1"/>
                </a:solidFill>
              </a:rPr>
              <a:t>최신 데이터 급감:</a:t>
            </a:r>
            <a:r>
              <a:rPr lang="en-US" sz="1100">
                <a:solidFill>
                  <a:schemeClr val="lt1"/>
                </a:solidFill>
              </a:rPr>
              <a:t> 2024~2025년 데이터가 급격히 떨어지는 것은 실제 출원이 줄어든 것이 아니라, 아직 데이터가 집계되지 않았거나(공개되지 않음) 심사 중이기 때문인 ‘데이터 미확정 구간'임.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연도별 특허 출원 및 등록 추이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71500" y="1144934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9675" y="1473176"/>
            <a:ext cx="9104901" cy="37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571500" y="5535959"/>
            <a:ext cx="110490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주력 기술:</a:t>
            </a:r>
            <a:r>
              <a:rPr lang="en-US" sz="1100">
                <a:solidFill>
                  <a:schemeClr val="lt1"/>
                </a:solidFill>
              </a:rPr>
              <a:t> </a:t>
            </a:r>
            <a:r>
              <a:rPr b="1" lang="en-US" sz="1100">
                <a:solidFill>
                  <a:schemeClr val="lt1"/>
                </a:solidFill>
              </a:rPr>
              <a:t>H01M 50(구조/케이스/팩)</a:t>
            </a:r>
            <a:r>
              <a:rPr lang="en-US" sz="1100">
                <a:solidFill>
                  <a:schemeClr val="lt1"/>
                </a:solidFill>
              </a:rPr>
              <a:t> 분야가 압도적으로 많으며, </a:t>
            </a:r>
            <a:r>
              <a:rPr b="1" lang="en-US" sz="1100">
                <a:solidFill>
                  <a:schemeClr val="lt1"/>
                </a:solidFill>
              </a:rPr>
              <a:t>H01M 10(이차전지 일반)</a:t>
            </a:r>
            <a:r>
              <a:rPr lang="en-US" sz="1100">
                <a:solidFill>
                  <a:schemeClr val="lt1"/>
                </a:solidFill>
              </a:rPr>
              <a:t>, </a:t>
            </a:r>
            <a:r>
              <a:rPr b="1" lang="en-US" sz="1100">
                <a:solidFill>
                  <a:schemeClr val="lt1"/>
                </a:solidFill>
              </a:rPr>
              <a:t>H01M 4(전극/활성물질)</a:t>
            </a:r>
            <a:r>
              <a:rPr lang="en-US" sz="1100">
                <a:solidFill>
                  <a:schemeClr val="lt1"/>
                </a:solidFill>
              </a:rPr>
              <a:t> 순으로 비중이 높음.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법적 상태:</a:t>
            </a:r>
            <a:r>
              <a:rPr lang="en-US" sz="1100">
                <a:solidFill>
                  <a:schemeClr val="lt1"/>
                </a:solidFill>
              </a:rPr>
              <a:t> 보라색 계열(공개, 등록)이 막대의 대부분을 차지하고 있어, 현재 기술 권리가 활발히 유지되고 있음을 시사.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특이점:</a:t>
            </a:r>
            <a:r>
              <a:rPr lang="en-US" sz="1100">
                <a:solidFill>
                  <a:schemeClr val="lt1"/>
                </a:solidFill>
              </a:rPr>
              <a:t> H01M 50 분야에서 등록 및 공개 건수가 가장 많으므로, 기업들이 배터리 팩/모듈 구조 설계에 집중하고 있음을 알 수 있음.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주요 기술 분야별 특허 법적 상태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571500" y="1144934"/>
            <a:ext cx="110490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200" y="1292542"/>
            <a:ext cx="8099601" cy="400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571500" y="5535951"/>
            <a:ext cx="110490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chemeClr val="lt1"/>
                </a:solidFill>
              </a:rPr>
              <a:t>이철행(463건), 성준엽(377건), 정왕모(344건)</a:t>
            </a:r>
            <a:r>
              <a:rPr lang="en-US" sz="1100">
                <a:solidFill>
                  <a:schemeClr val="lt1"/>
                </a:solidFill>
              </a:rPr>
              <a:t> 등이 핵심 발명자로 식별.</a:t>
            </a:r>
            <a:r>
              <a:rPr b="1" lang="en-US" sz="1100">
                <a:solidFill>
                  <a:schemeClr val="lt1"/>
                </a:solidFill>
              </a:rPr>
              <a:t>인사이트:</a:t>
            </a:r>
            <a:r>
              <a:rPr lang="en-US" sz="1100">
                <a:solidFill>
                  <a:schemeClr val="lt1"/>
                </a:solidFill>
              </a:rPr>
              <a:t> 맨 왼쪽 '특허 총 개수' 열이 진한 색으로 표시되어, 누가 '다작'을 했는지 직관적으로 파악 가능함.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전문 분야 식별: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이철행:</a:t>
            </a:r>
            <a:r>
              <a:rPr lang="en-US" sz="1100">
                <a:solidFill>
                  <a:schemeClr val="lt1"/>
                </a:solidFill>
              </a:rPr>
              <a:t> H01M 50(구조/케이스/팩) 분야에 435건이 집중되어 있음. -&gt; 팩/모듈 설계 전문가.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정왕모:</a:t>
            </a:r>
            <a:r>
              <a:rPr lang="en-US" sz="1100">
                <a:solidFill>
                  <a:schemeClr val="lt1"/>
                </a:solidFill>
              </a:rPr>
              <a:t> H01M 10(이차전지 일반)에 289건으로 비중이 높음.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성준엽:</a:t>
            </a:r>
            <a:r>
              <a:rPr lang="en-US" sz="1100">
                <a:solidFill>
                  <a:schemeClr val="lt1"/>
                </a:solidFill>
              </a:rPr>
              <a:t> H01M 50(구조/케이스)과 H01M 10(일반)에 고루 분포.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핵심 발명자의 주력 기술 분야 (총 개수 포함)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571500" y="1144934"/>
            <a:ext cx="110490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1025" y="1243975"/>
            <a:ext cx="6807724" cy="420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결론</a:t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571500" y="1144934"/>
            <a:ext cx="110490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571500" y="1873100"/>
            <a:ext cx="110490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 압도적 양적 공세 (Scale-up)</a:t>
            </a:r>
            <a:endParaRPr b="1" sz="15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2015년 이후 연평균 지속적인 출원 증가세를 유지하며, 2023년 정점에 도달함. 이는 시장 지배력을 유지하기 위한 공격적인 IP 확보 전략이 가동 중임을 시사.</a:t>
            </a:r>
            <a:endParaRPr sz="12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'H01M 50' 중심의 기술 장벽 구축</a:t>
            </a:r>
            <a:endParaRPr b="1" sz="15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배터리 소재(H01M </a:t>
            </a: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4</a:t>
            </a: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, 10) 대비 구조/케이스/패키징(H01M 50) 분야에 출원이 집중됨.</a:t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이는 단순히 배터리를 만드는 것을 넘어, '안전성 확보'와 '다양한 폼팩터 대응'을 통해 완성차 업체(OEM)에 대한 협상력을 높이려는 전략으로 해석됨.</a:t>
            </a:r>
            <a:endParaRPr sz="12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소수 정예의 발명자 네트워크</a:t>
            </a:r>
            <a:endParaRPr b="1" sz="15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이철행, 성준엽 등 상위 1%의 '핵심 발명자(Key-man)'가 전체 기술 개발을 주도하는 경향이 뚜렷함. 특정 인물에 대한 기술 의존도가 높음.</a:t>
            </a:r>
            <a:endParaRPr sz="12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>
            <a:off x="571500" y="5220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제안</a:t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571500" y="1144934"/>
            <a:ext cx="11049000" cy="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571500" y="1842900"/>
            <a:ext cx="11049000" cy="4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포트폴리오 균형 확보 (Balancing)</a:t>
            </a:r>
            <a:endParaRPr b="1" sz="15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현재 '구조(H01M 50)'에 치우친 포트폴리오를 차세대 '소재(전고체 등)' 및 'BMS(제어)' 분야로 확장하여, 하드웨어뿐만 아니라 소프트웨어/소재 기술 경쟁력의 균형을 맞출 필요가 있음.</a:t>
            </a:r>
            <a:endParaRPr sz="12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 핵심 인재 리스크 관리 (HR Strategy)</a:t>
            </a:r>
            <a:endParaRPr b="1" sz="15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네트워크 분석에서 식별된 핵심 발명자들의 이탈은 곧 기술 유출 및 R&amp;D 동력 상실로 이어질 수 있음. 이들에 대한 전략적 보상 체계 및 리텐션(Retention) 프로그램 강화 필수.</a:t>
            </a:r>
            <a:endParaRPr sz="12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'등록' 전환율 제고 (Quality Control)</a:t>
            </a:r>
            <a:endParaRPr b="1" sz="15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ulim"/>
                <a:ea typeface="Gulim"/>
                <a:cs typeface="Gulim"/>
                <a:sym typeface="Gulim"/>
              </a:rPr>
              <a:t>급증한 출원 건수 대비 실질적인 권리(등록) 확보 비율을 점검해야 함. 특히 H01M 50 분야의 '심사 중(공개)' 건들을 조속히 권리화하여 후발 주자들의 진입을 원천 봉쇄하는 '특허 덤불(Patent Thicket)' 전략 완성 필요.</a:t>
            </a:r>
            <a:endParaRPr sz="1200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/>
        </p:nvSpPr>
        <p:spPr>
          <a:xfrm>
            <a:off x="2688825" y="2779450"/>
            <a:ext cx="66165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경청해 주셔서 감사합니다.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Thank you for your attention.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